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Montserrat" panose="020F0502020204030204" pitchFamily="2" charset="0"/>
      <p:regular r:id="rId13"/>
    </p:embeddedFont>
    <p:embeddedFont>
      <p:font typeface="Montserrat Bold" panose="020B0604020202020204" charset="0"/>
      <p:regular r:id="rId14"/>
    </p:embeddedFont>
    <p:embeddedFont>
      <p:font typeface="Montserrat Bold Italics" panose="020B0604020202020204" charset="0"/>
      <p:regular r:id="rId15"/>
    </p:embeddedFont>
    <p:embeddedFont>
      <p:font typeface="Montserrat Italics" panose="020B0604020202020204" charset="0"/>
      <p:regular r:id="rId16"/>
    </p:embeddedFont>
    <p:embeddedFont>
      <p:font typeface="Montserrat Medium" panose="020F0502020204030204" pitchFamily="2" charset="0"/>
      <p:regular r:id="rId17"/>
    </p:embeddedFont>
    <p:embeddedFont>
      <p:font typeface="Montserrat Semi-Bold Italics" panose="020B0604020202020204" charset="0"/>
      <p:regular r:id="rId18"/>
    </p:embeddedFont>
    <p:embeddedFont>
      <p:font typeface="Montserrat Ultra-Bold" panose="020B0604020202020204" charset="0"/>
      <p:regular r:id="rId19"/>
    </p:embeddedFont>
    <p:embeddedFont>
      <p:font typeface="Montserrat Ultra-Bold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va.com/design/DAHCZQWR2i0/8G3b9UyOBew_sx15U3E51w/edit" TargetMode="External"/><Relationship Id="rId2" Type="http://schemas.openxmlformats.org/officeDocument/2006/relationships/hyperlink" Target="https://github.com/victorNda/Proyecto-estadistica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24247" y="6493710"/>
            <a:ext cx="13758809" cy="2020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8"/>
              </a:lnSpc>
            </a:pPr>
            <a:r>
              <a:rPr lang="en-US" sz="15248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Pandas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624247" y="6198435"/>
            <a:ext cx="1555561" cy="0"/>
          </a:xfrm>
          <a:prstGeom prst="line">
            <a:avLst/>
          </a:prstGeom>
          <a:ln w="857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12911264" y="1689135"/>
            <a:ext cx="3752489" cy="2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1"/>
              </a:lnSpc>
            </a:pPr>
            <a:r>
              <a:rPr lang="en-US" sz="150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VICTOR DAVID NIÑO VIVAS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25713" y="2083317"/>
            <a:ext cx="2538040" cy="178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84"/>
              </a:lnSpc>
            </a:pPr>
            <a:r>
              <a:rPr lang="en-US" sz="13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20251020004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4247" y="8351134"/>
            <a:ext cx="13758809" cy="31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2334" b="1" spc="108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0744"/>
            <a:ext cx="9579830" cy="3880781"/>
          </a:xfrm>
          <a:custGeom>
            <a:avLst/>
            <a:gdLst/>
            <a:ahLst/>
            <a:cxnLst/>
            <a:rect l="l" t="t" r="r" b="b"/>
            <a:pathLst>
              <a:path w="9579830" h="3880781">
                <a:moveTo>
                  <a:pt x="0" y="0"/>
                </a:moveTo>
                <a:lnTo>
                  <a:pt x="9579830" y="0"/>
                </a:lnTo>
                <a:lnTo>
                  <a:pt x="9579830" y="3880781"/>
                </a:lnTo>
                <a:lnTo>
                  <a:pt x="0" y="3880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9448499" y="3640917"/>
            <a:ext cx="8513974" cy="4767826"/>
          </a:xfrm>
          <a:custGeom>
            <a:avLst/>
            <a:gdLst/>
            <a:ahLst/>
            <a:cxnLst/>
            <a:rect l="l" t="t" r="r" b="b"/>
            <a:pathLst>
              <a:path w="8513974" h="4767826">
                <a:moveTo>
                  <a:pt x="0" y="0"/>
                </a:moveTo>
                <a:lnTo>
                  <a:pt x="8513974" y="0"/>
                </a:lnTo>
                <a:lnTo>
                  <a:pt x="8513974" y="4767826"/>
                </a:lnTo>
                <a:lnTo>
                  <a:pt x="0" y="47678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1028700" y="4042000"/>
            <a:ext cx="9664379" cy="4904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  <a:spcBef>
                <a:spcPct val="0"/>
              </a:spcBef>
            </a:pPr>
            <a:r>
              <a:rPr lang="en-US" sz="2599" i="1" spc="106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pandas es una librería de Python especializada en:</a:t>
            </a:r>
          </a:p>
          <a:p>
            <a:pPr algn="l">
              <a:lnSpc>
                <a:spcPts val="3275"/>
              </a:lnSpc>
              <a:spcBef>
                <a:spcPct val="0"/>
              </a:spcBef>
            </a:pPr>
            <a:endParaRPr lang="en-US" sz="2599" i="1" spc="106">
              <a:solidFill>
                <a:srgbClr val="000000"/>
              </a:solidFill>
              <a:latin typeface="Montserrat Italics"/>
              <a:ea typeface="Montserrat Italics"/>
              <a:cs typeface="Montserrat Italics"/>
              <a:sym typeface="Montserrat Italics"/>
            </a:endParaRPr>
          </a:p>
          <a:p>
            <a:pPr marL="561339" lvl="1" indent="-280669" algn="l">
              <a:lnSpc>
                <a:spcPts val="3275"/>
              </a:lnSpc>
              <a:buFont typeface="Arial"/>
              <a:buChar char="•"/>
            </a:pPr>
            <a:r>
              <a:rPr lang="en-US" sz="2599" i="1" spc="106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Manipulación de datos estructurados</a:t>
            </a:r>
          </a:p>
          <a:p>
            <a:pPr marL="561339" lvl="1" indent="-280669" algn="l">
              <a:lnSpc>
                <a:spcPts val="3275"/>
              </a:lnSpc>
              <a:buFont typeface="Arial"/>
              <a:buChar char="•"/>
            </a:pPr>
            <a:r>
              <a:rPr lang="en-US" sz="2599" i="1" spc="106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Análisis estadístico</a:t>
            </a:r>
          </a:p>
          <a:p>
            <a:pPr marL="561339" lvl="1" indent="-280669" algn="l">
              <a:lnSpc>
                <a:spcPts val="3275"/>
              </a:lnSpc>
              <a:buFont typeface="Arial"/>
              <a:buChar char="•"/>
            </a:pPr>
            <a:r>
              <a:rPr lang="en-US" sz="2599" i="1" spc="106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Transformación de datos</a:t>
            </a:r>
          </a:p>
          <a:p>
            <a:pPr marL="561339" lvl="1" indent="-280669" algn="l">
              <a:lnSpc>
                <a:spcPts val="3275"/>
              </a:lnSpc>
              <a:buFont typeface="Arial"/>
              <a:buChar char="•"/>
            </a:pPr>
            <a:r>
              <a:rPr lang="en-US" sz="2599" i="1" spc="106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Procesamiento de información tabular</a:t>
            </a:r>
          </a:p>
          <a:p>
            <a:pPr algn="l">
              <a:lnSpc>
                <a:spcPts val="3275"/>
              </a:lnSpc>
            </a:pPr>
            <a:endParaRPr lang="en-US" sz="2599" i="1" spc="106">
              <a:solidFill>
                <a:srgbClr val="000000"/>
              </a:solidFill>
              <a:latin typeface="Montserrat Italics"/>
              <a:ea typeface="Montserrat Italics"/>
              <a:cs typeface="Montserrat Italics"/>
              <a:sym typeface="Montserrat Italics"/>
            </a:endParaRPr>
          </a:p>
          <a:p>
            <a:pPr algn="l">
              <a:lnSpc>
                <a:spcPts val="3275"/>
              </a:lnSpc>
              <a:spcBef>
                <a:spcPct val="0"/>
              </a:spcBef>
            </a:pPr>
            <a:r>
              <a:rPr lang="en-US" sz="2599" i="1" spc="106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Está construida sobre NumPy, lo que le</a:t>
            </a:r>
          </a:p>
          <a:p>
            <a:pPr algn="l">
              <a:lnSpc>
                <a:spcPts val="3275"/>
              </a:lnSpc>
              <a:spcBef>
                <a:spcPct val="0"/>
              </a:spcBef>
            </a:pPr>
            <a:r>
              <a:rPr lang="en-US" sz="2599" i="1" spc="106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permite trabajar de forma eficiente con grandes volúmenes de datos.</a:t>
            </a:r>
          </a:p>
          <a:p>
            <a:pPr algn="l">
              <a:lnSpc>
                <a:spcPts val="3275"/>
              </a:lnSpc>
              <a:spcBef>
                <a:spcPct val="0"/>
              </a:spcBef>
            </a:pPr>
            <a:r>
              <a:rPr lang="en-US" sz="2599" i="1" spc="106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Fue creada por Wes McKinney en 2008 para análisis financiero.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93473" y="3645781"/>
            <a:ext cx="6048441" cy="4109632"/>
          </a:xfrm>
          <a:custGeom>
            <a:avLst/>
            <a:gdLst/>
            <a:ahLst/>
            <a:cxnLst/>
            <a:rect l="l" t="t" r="r" b="b"/>
            <a:pathLst>
              <a:path w="6048441" h="4109632">
                <a:moveTo>
                  <a:pt x="0" y="0"/>
                </a:moveTo>
                <a:lnTo>
                  <a:pt x="6048442" y="0"/>
                </a:lnTo>
                <a:lnTo>
                  <a:pt x="6048442" y="4109632"/>
                </a:lnTo>
                <a:lnTo>
                  <a:pt x="0" y="4109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981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3938422"/>
            <a:ext cx="9562776" cy="441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9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Porque resuelve problemas reales como:</a:t>
            </a:r>
          </a:p>
          <a:p>
            <a:pPr algn="just">
              <a:lnSpc>
                <a:spcPts val="3199"/>
              </a:lnSpc>
              <a:spcBef>
                <a:spcPct val="0"/>
              </a:spcBef>
            </a:pPr>
            <a:endParaRPr lang="en-US" sz="31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90877" lvl="1" indent="-345439" algn="l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Datos desordenados</a:t>
            </a:r>
          </a:p>
          <a:p>
            <a:pPr marL="690877" lvl="1" indent="-345439" algn="l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Datos incompletos</a:t>
            </a:r>
          </a:p>
          <a:p>
            <a:pPr marL="690877" lvl="1" indent="-345439" algn="l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Archivos muy grandes</a:t>
            </a:r>
          </a:p>
          <a:p>
            <a:pPr marL="690877" lvl="1" indent="-345439" algn="l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Información en múltiples formatos</a:t>
            </a:r>
          </a:p>
          <a:p>
            <a:pPr marL="690877" lvl="1" indent="-345439" algn="l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Análisis rápido sin usar bases de datos complejas</a:t>
            </a:r>
          </a:p>
          <a:p>
            <a:pPr marL="690877" lvl="1" indent="-345439" algn="l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esta construida sobre Numpy </a:t>
            </a:r>
          </a:p>
          <a:p>
            <a:pPr algn="just">
              <a:lnSpc>
                <a:spcPts val="3199"/>
              </a:lnSpc>
            </a:pPr>
            <a:endParaRPr lang="en-US" sz="31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19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724740"/>
            <a:ext cx="9356590" cy="77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6"/>
              </a:lnSpc>
              <a:spcBef>
                <a:spcPct val="0"/>
              </a:spcBef>
            </a:pPr>
            <a:r>
              <a:rPr lang="en-US" sz="5806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Por que es tan usada?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4247" y="1960025"/>
            <a:ext cx="5998633" cy="2869716"/>
          </a:xfrm>
          <a:custGeom>
            <a:avLst/>
            <a:gdLst/>
            <a:ahLst/>
            <a:cxnLst/>
            <a:rect l="l" t="t" r="r" b="b"/>
            <a:pathLst>
              <a:path w="5998633" h="2869716">
                <a:moveTo>
                  <a:pt x="0" y="0"/>
                </a:moveTo>
                <a:lnTo>
                  <a:pt x="5998633" y="0"/>
                </a:lnTo>
                <a:lnTo>
                  <a:pt x="5998633" y="2869716"/>
                </a:lnTo>
                <a:lnTo>
                  <a:pt x="0" y="2869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4623563" y="5576100"/>
            <a:ext cx="2953705" cy="2750875"/>
          </a:xfrm>
          <a:custGeom>
            <a:avLst/>
            <a:gdLst/>
            <a:ahLst/>
            <a:cxnLst/>
            <a:rect l="l" t="t" r="r" b="b"/>
            <a:pathLst>
              <a:path w="2953705" h="2750875">
                <a:moveTo>
                  <a:pt x="0" y="0"/>
                </a:moveTo>
                <a:lnTo>
                  <a:pt x="2953705" y="0"/>
                </a:lnTo>
                <a:lnTo>
                  <a:pt x="2953705" y="2750875"/>
                </a:lnTo>
                <a:lnTo>
                  <a:pt x="0" y="2750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624247" y="5432158"/>
            <a:ext cx="3038760" cy="3038760"/>
          </a:xfrm>
          <a:custGeom>
            <a:avLst/>
            <a:gdLst/>
            <a:ahLst/>
            <a:cxnLst/>
            <a:rect l="l" t="t" r="r" b="b"/>
            <a:pathLst>
              <a:path w="3038760" h="3038760">
                <a:moveTo>
                  <a:pt x="0" y="0"/>
                </a:moveTo>
                <a:lnTo>
                  <a:pt x="3038760" y="0"/>
                </a:lnTo>
                <a:lnTo>
                  <a:pt x="3038760" y="3038760"/>
                </a:lnTo>
                <a:lnTo>
                  <a:pt x="0" y="3038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8645562" y="4625726"/>
            <a:ext cx="8018191" cy="243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559" spc="1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muy usado tambien por su capacidad para leer y escribir en multiples formatos (CSV,excel,json,sql), tambien permite exportar los resultados a este tipo de formatos, esto facilita enormemente el flujo de trabajo en proyectos reales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45562" y="2975774"/>
            <a:ext cx="9361577" cy="522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84"/>
              </a:lnSpc>
              <a:spcBef>
                <a:spcPct val="0"/>
              </a:spcBef>
            </a:pPr>
            <a:r>
              <a:rPr lang="en-US" sz="3984" b="1" i="1">
                <a:solidFill>
                  <a:srgbClr val="000000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FACILIDADES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45562" y="3637091"/>
            <a:ext cx="8499805" cy="412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06"/>
              </a:lnSpc>
              <a:spcBef>
                <a:spcPct val="0"/>
              </a:spcBef>
            </a:pPr>
            <a:r>
              <a:rPr lang="en-US" sz="3106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SQL CSV EXCEL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33076" y="2877562"/>
            <a:ext cx="9454924" cy="5119195"/>
          </a:xfrm>
          <a:custGeom>
            <a:avLst/>
            <a:gdLst/>
            <a:ahLst/>
            <a:cxnLst/>
            <a:rect l="l" t="t" r="r" b="b"/>
            <a:pathLst>
              <a:path w="9454924" h="5119195">
                <a:moveTo>
                  <a:pt x="0" y="0"/>
                </a:moveTo>
                <a:lnTo>
                  <a:pt x="9454924" y="0"/>
                </a:lnTo>
                <a:lnTo>
                  <a:pt x="9454924" y="5119194"/>
                </a:lnTo>
                <a:lnTo>
                  <a:pt x="0" y="5119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3622595"/>
            <a:ext cx="7549983" cy="4713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699" spc="1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Pandas trabaja principalmente dos estructuras de datos: las series y dataframes, las series son unidimensionales  con un indice asociado, los dataframe son estructuras bidimensionales simialres a tablas de excel, compuesta de filas y columnas esta es  mas utilizada ya que permite organizar filtrar modificar y analizar datos de una manera mas sencilla</a:t>
            </a:r>
          </a:p>
          <a:p>
            <a:pPr algn="l">
              <a:lnSpc>
                <a:spcPts val="3401"/>
              </a:lnSpc>
            </a:pPr>
            <a:endParaRPr lang="en-US" sz="2699" spc="11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85428" y="1854966"/>
            <a:ext cx="7036528" cy="57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06"/>
              </a:lnSpc>
              <a:spcBef>
                <a:spcPct val="0"/>
              </a:spcBef>
            </a:pPr>
            <a:r>
              <a:rPr lang="en-US" sz="4406" b="1" i="1">
                <a:solidFill>
                  <a:srgbClr val="000000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COMO FUNCIONA?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428" y="2393057"/>
            <a:ext cx="6388786" cy="48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99"/>
              </a:lnSpc>
              <a:spcBef>
                <a:spcPct val="0"/>
              </a:spcBef>
            </a:pPr>
            <a:r>
              <a:rPr lang="en-US" sz="3699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Series y Dataframe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2592306"/>
            <a:ext cx="8024073" cy="4875739"/>
          </a:xfrm>
          <a:custGeom>
            <a:avLst/>
            <a:gdLst/>
            <a:ahLst/>
            <a:cxnLst/>
            <a:rect l="l" t="t" r="r" b="b"/>
            <a:pathLst>
              <a:path w="8024073" h="4875739">
                <a:moveTo>
                  <a:pt x="0" y="0"/>
                </a:moveTo>
                <a:lnTo>
                  <a:pt x="8024073" y="0"/>
                </a:lnTo>
                <a:lnTo>
                  <a:pt x="8024073" y="4875739"/>
                </a:lnTo>
                <a:lnTo>
                  <a:pt x="0" y="48757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410900" y="3646126"/>
            <a:ext cx="7519753" cy="5016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899" spc="1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 funciones como head(), info() y describe() es posible obtener rapidamente una vision general de los datos, estadisticas basicas como promedio, maximo y minimo</a:t>
            </a:r>
          </a:p>
          <a:p>
            <a:pPr algn="l">
              <a:lnSpc>
                <a:spcPts val="3653"/>
              </a:lnSpc>
            </a:pPr>
            <a:endParaRPr lang="en-US" sz="2899" spc="118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653"/>
              </a:lnSpc>
            </a:pPr>
            <a:r>
              <a:rPr lang="en-US" sz="2899" spc="1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Ya que los datos pueden venir con errores varios  Pandas permite detectar valores nulos, eliminarlos o remplazarlos con promedios de la misma columna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2513" y="2263422"/>
            <a:ext cx="7036528" cy="494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6"/>
              </a:lnSpc>
              <a:spcBef>
                <a:spcPct val="0"/>
              </a:spcBef>
            </a:pPr>
            <a:r>
              <a:rPr lang="en-US" sz="3706" b="1" i="1">
                <a:solidFill>
                  <a:srgbClr val="000000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HERRAMIENTAS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52513" y="2820563"/>
            <a:ext cx="638878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999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Exploracion y limpieza de datos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2387" y="3680325"/>
            <a:ext cx="8356913" cy="3581534"/>
          </a:xfrm>
          <a:custGeom>
            <a:avLst/>
            <a:gdLst/>
            <a:ahLst/>
            <a:cxnLst/>
            <a:rect l="l" t="t" r="r" b="b"/>
            <a:pathLst>
              <a:path w="8356913" h="3581534">
                <a:moveTo>
                  <a:pt x="0" y="0"/>
                </a:moveTo>
                <a:lnTo>
                  <a:pt x="8356913" y="0"/>
                </a:lnTo>
                <a:lnTo>
                  <a:pt x="8356913" y="3581534"/>
                </a:lnTo>
                <a:lnTo>
                  <a:pt x="0" y="3581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624247" y="3670800"/>
            <a:ext cx="6630399" cy="4102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899" spc="1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 pueden seleccionar filas y columnas especifas usando loc e iloc </a:t>
            </a:r>
          </a:p>
          <a:p>
            <a:pPr algn="l">
              <a:lnSpc>
                <a:spcPts val="3653"/>
              </a:lnSpc>
            </a:pPr>
            <a:r>
              <a:rPr lang="en-US" sz="2899" spc="1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 acceden al dato por nombre o posicion,a demas de esto se pueden seleccionar filas siguiendo alguna condicion logica como variables mas grandes qeu cierto valor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65859" y="2288096"/>
            <a:ext cx="7036528" cy="494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6"/>
              </a:lnSpc>
              <a:spcBef>
                <a:spcPct val="0"/>
              </a:spcBef>
            </a:pPr>
            <a:r>
              <a:rPr lang="en-US" sz="3706" b="1" i="1">
                <a:solidFill>
                  <a:srgbClr val="000000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HERRAMIENTAS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65859" y="2845237"/>
            <a:ext cx="638878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999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Filtrado y Seleccion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47995" y="2782298"/>
            <a:ext cx="9330602" cy="5271790"/>
          </a:xfrm>
          <a:custGeom>
            <a:avLst/>
            <a:gdLst/>
            <a:ahLst/>
            <a:cxnLst/>
            <a:rect l="l" t="t" r="r" b="b"/>
            <a:pathLst>
              <a:path w="9330602" h="5271790">
                <a:moveTo>
                  <a:pt x="0" y="0"/>
                </a:moveTo>
                <a:lnTo>
                  <a:pt x="9330602" y="0"/>
                </a:lnTo>
                <a:lnTo>
                  <a:pt x="9330602" y="5271791"/>
                </a:lnTo>
                <a:lnTo>
                  <a:pt x="0" y="5271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681112" y="2964154"/>
            <a:ext cx="6630399" cy="5931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899" spc="1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Pandas permite realizar operaciones como sumas, promedios, conteos y desviaciones de manera rapida y sencilla, una funcion muy importante es el groupby, que permite agrupar datos por categorias y aplicar funciones al grupo </a:t>
            </a:r>
          </a:p>
          <a:p>
            <a:pPr algn="l">
              <a:lnSpc>
                <a:spcPts val="3653"/>
              </a:lnSpc>
            </a:pPr>
            <a:r>
              <a:rPr lang="en-US" sz="2899" spc="1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Ademas de esto Pandas se integra facilmente con otras librerias como matplotlib o seaborn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1112" y="1686640"/>
            <a:ext cx="7036528" cy="494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6"/>
              </a:lnSpc>
              <a:spcBef>
                <a:spcPct val="0"/>
              </a:spcBef>
            </a:pPr>
            <a:r>
              <a:rPr lang="en-US" sz="3706" b="1" i="1">
                <a:solidFill>
                  <a:srgbClr val="000000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HERRAMIENTAS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81112" y="2243780"/>
            <a:ext cx="746288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999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Analisis estadistico e integracion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54646" y="2532476"/>
            <a:ext cx="9325087" cy="5222049"/>
          </a:xfrm>
          <a:custGeom>
            <a:avLst/>
            <a:gdLst/>
            <a:ahLst/>
            <a:cxnLst/>
            <a:rect l="l" t="t" r="r" b="b"/>
            <a:pathLst>
              <a:path w="9325087" h="5222049">
                <a:moveTo>
                  <a:pt x="0" y="0"/>
                </a:moveTo>
                <a:lnTo>
                  <a:pt x="9325087" y="0"/>
                </a:lnTo>
                <a:lnTo>
                  <a:pt x="9325087" y="5222048"/>
                </a:lnTo>
                <a:lnTo>
                  <a:pt x="0" y="5222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200259" y="3652297"/>
            <a:ext cx="6630399" cy="4102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899" spc="1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Pandas es una librería fundamental para el análisis de datos en Python. Permite trabajar con información estructurada de manera eficiente, automatizada y reproducible.</a:t>
            </a:r>
          </a:p>
          <a:p>
            <a:pPr algn="l">
              <a:lnSpc>
                <a:spcPts val="3653"/>
              </a:lnSpc>
            </a:pPr>
            <a:r>
              <a:rPr lang="en-US" sz="2899" spc="1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Ademas de su facilidad potencia y versatilidad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4247" y="1933768"/>
            <a:ext cx="7036528" cy="8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06"/>
              </a:lnSpc>
              <a:spcBef>
                <a:spcPct val="0"/>
              </a:spcBef>
            </a:pPr>
            <a:r>
              <a:rPr lang="en-US" sz="6406" b="1" i="1">
                <a:solidFill>
                  <a:srgbClr val="000000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CONCLUSION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30221" y="3541393"/>
            <a:ext cx="7629079" cy="3204213"/>
          </a:xfrm>
          <a:custGeom>
            <a:avLst/>
            <a:gdLst/>
            <a:ahLst/>
            <a:cxnLst/>
            <a:rect l="l" t="t" r="r" b="b"/>
            <a:pathLst>
              <a:path w="7629079" h="3204213">
                <a:moveTo>
                  <a:pt x="0" y="0"/>
                </a:moveTo>
                <a:lnTo>
                  <a:pt x="7629079" y="0"/>
                </a:lnTo>
                <a:lnTo>
                  <a:pt x="7629079" y="3204214"/>
                </a:lnTo>
                <a:lnTo>
                  <a:pt x="0" y="320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3243072"/>
            <a:ext cx="8436439" cy="455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899" spc="1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Este código crea un conjunto de datos simulados usando Pandas y NumPy, donde se generan columnas como Precio, Cantidad e Ingreso. Luego utiliza Pandas para organizar la información en un DataFrame</a:t>
            </a:r>
          </a:p>
          <a:p>
            <a:pPr algn="l">
              <a:lnSpc>
                <a:spcPts val="3653"/>
              </a:lnSpc>
            </a:pPr>
            <a:r>
              <a:rPr lang="en-US" sz="2899" spc="1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Finalmente, esos resultados se representan en una gráfica tipo mapa de calor con Matplotlib.</a:t>
            </a:r>
          </a:p>
          <a:p>
            <a:pPr algn="l">
              <a:lnSpc>
                <a:spcPts val="3653"/>
              </a:lnSpc>
            </a:pPr>
            <a:endParaRPr lang="en-US" sz="2899" spc="118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916555"/>
            <a:ext cx="9524440" cy="800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6"/>
              </a:lnSpc>
              <a:spcBef>
                <a:spcPct val="0"/>
              </a:spcBef>
            </a:pPr>
            <a:r>
              <a:rPr lang="en-US" sz="6006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EJEMPLO PRACTICO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9960" y="3414260"/>
            <a:ext cx="14113794" cy="373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20"/>
              </a:lnSpc>
              <a:spcBef>
                <a:spcPct val="0"/>
              </a:spcBef>
            </a:pPr>
            <a:r>
              <a:rPr lang="en-US" sz="14420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GRACIAS POR SU ATENCION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49960" y="8105840"/>
            <a:ext cx="13578125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899" spc="11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Repositorio</a:t>
            </a:r>
            <a:r>
              <a:rPr lang="en-US" sz="2899" spc="11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2899" spc="11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2" tooltip="https://www.canva.com/design/DAHCZQWR2i0/8G3b9UyOBew_sx15U3E51w/edit"/>
              </a:rPr>
              <a:t>https://github.com/victorNda/Proyecto-estadistica</a:t>
            </a:r>
            <a:endParaRPr lang="en-US" sz="2899" u="sng" spc="118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  <a:hlinkClick r:id="rId3" tooltip="https://www.canva.com/design/DAHCZQWR2i0/8G3b9UyOBew_sx15U3E51w/edi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Microsoft Office PowerPoint</Application>
  <PresentationFormat>Personalizado</PresentationFormat>
  <Paragraphs>52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2" baseType="lpstr">
      <vt:lpstr>Montserrat</vt:lpstr>
      <vt:lpstr>Calibri</vt:lpstr>
      <vt:lpstr>Montserrat Medium</vt:lpstr>
      <vt:lpstr>Montserrat Italics</vt:lpstr>
      <vt:lpstr>Montserrat Bold</vt:lpstr>
      <vt:lpstr>Montserrat Bold Italics</vt:lpstr>
      <vt:lpstr>Montserrat Semi-Bold Italics</vt:lpstr>
      <vt:lpstr>Arial</vt:lpstr>
      <vt:lpstr>Montserrat Ultra-Bold Italics</vt:lpstr>
      <vt:lpstr>Montserrat Ultra-Bold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Portafolio Estudio de Fotografía Simple Minimalista Blanco</dc:title>
  <cp:lastModifiedBy>VICTOR DAVID NINO VIVAS</cp:lastModifiedBy>
  <cp:revision>2</cp:revision>
  <dcterms:created xsi:type="dcterms:W3CDTF">2006-08-16T00:00:00Z</dcterms:created>
  <dcterms:modified xsi:type="dcterms:W3CDTF">2026-02-27T05:42:50Z</dcterms:modified>
  <dc:identifier>DAHCeHFzoR4</dc:identifier>
</cp:coreProperties>
</file>